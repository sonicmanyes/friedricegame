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677c26ea14dbe" /><Relationship Type="http://schemas.openxmlformats.org/officeDocument/2006/relationships/extended-properties" Target="/docProps/app.xml" Id="Rbc7a9600cce648af" /><Relationship Type="http://schemas.openxmlformats.org/officeDocument/2006/relationships/officeDocument" Target="/ppt/presentation.xml" Id="Rcd471131239c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7b3a22d9a5433c"/>
  </p:sldMasterIdLst>
  <p:notesMasterIdLst>
    <p:notesMasterId xmlns:r="http://schemas.openxmlformats.org/officeDocument/2006/relationships" r:id="R802e300fceec41b1"/>
  </p:notesMasterIdLst>
  <p:sldIdLst>
    <p:sldId xmlns:r="http://schemas.openxmlformats.org/officeDocument/2006/relationships" id="256" r:id="R2a08aaddbc6345e1"/>
    <p:sldId xmlns:r="http://schemas.openxmlformats.org/officeDocument/2006/relationships" id="257" r:id="R4393362118c2417d"/>
    <p:sldId xmlns:r="http://schemas.openxmlformats.org/officeDocument/2006/relationships" id="258" r:id="R3c64254da47d4e73"/>
    <p:sldId xmlns:r="http://schemas.openxmlformats.org/officeDocument/2006/relationships" id="259" r:id="R7a10decc02ef4d17"/>
    <p:sldId xmlns:r="http://schemas.openxmlformats.org/officeDocument/2006/relationships" id="260" r:id="R1953a1825a5249c2"/>
    <p:sldId xmlns:r="http://schemas.openxmlformats.org/officeDocument/2006/relationships" id="261" r:id="Rca2367953c824883"/>
    <p:sldId xmlns:r="http://schemas.openxmlformats.org/officeDocument/2006/relationships" id="262" r:id="Ra2eac1e02e774d6c"/>
    <p:sldId xmlns:r="http://schemas.openxmlformats.org/officeDocument/2006/relationships" id="263" r:id="R19c64189b90d4319"/>
    <p:sldId xmlns:r="http://schemas.openxmlformats.org/officeDocument/2006/relationships" id="264" r:id="Rd01743df08f04577"/>
    <p:sldId xmlns:r="http://schemas.openxmlformats.org/officeDocument/2006/relationships" id="265" r:id="Re67aa93c8cc647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d2467be79477c" /><Relationship Type="http://schemas.openxmlformats.org/officeDocument/2006/relationships/slideMaster" Target="/ppt/slideMasters/slideMaster1.xml" Id="R897b3a22d9a5433c" /><Relationship Type="http://schemas.openxmlformats.org/officeDocument/2006/relationships/notesMaster" Target="/ppt/notesMasters/notesMaster1.xml" Id="R802e300fceec41b1" /><Relationship Type="http://schemas.openxmlformats.org/officeDocument/2006/relationships/presProps" Target="/ppt/presProps.xml" Id="Rc5af97de421a4716" /><Relationship Type="http://schemas.openxmlformats.org/officeDocument/2006/relationships/tableStyles" Target="/ppt/tableStyles.xml" Id="R9d9414800a8f41b5" /><Relationship Type="http://schemas.openxmlformats.org/officeDocument/2006/relationships/slide" Target="/ppt/slides/slide1.xml" Id="R2a08aaddbc6345e1" /><Relationship Type="http://schemas.openxmlformats.org/officeDocument/2006/relationships/slide" Target="/ppt/slides/slide2.xml" Id="R4393362118c2417d" /><Relationship Type="http://schemas.openxmlformats.org/officeDocument/2006/relationships/slide" Target="/ppt/slides/slide3.xml" Id="R3c64254da47d4e73" /><Relationship Type="http://schemas.openxmlformats.org/officeDocument/2006/relationships/slide" Target="/ppt/slides/slide4.xml" Id="R7a10decc02ef4d17" /><Relationship Type="http://schemas.openxmlformats.org/officeDocument/2006/relationships/slide" Target="/ppt/slides/slide5.xml" Id="R1953a1825a5249c2" /><Relationship Type="http://schemas.openxmlformats.org/officeDocument/2006/relationships/slide" Target="/ppt/slides/slide6.xml" Id="Rca2367953c824883" /><Relationship Type="http://schemas.openxmlformats.org/officeDocument/2006/relationships/slide" Target="/ppt/slides/slide7.xml" Id="Ra2eac1e02e774d6c" /><Relationship Type="http://schemas.openxmlformats.org/officeDocument/2006/relationships/slide" Target="/ppt/slides/slide8.xml" Id="R19c64189b90d4319" /><Relationship Type="http://schemas.openxmlformats.org/officeDocument/2006/relationships/slide" Target="/ppt/slides/slide9.xml" Id="Rd01743df08f04577" /><Relationship Type="http://schemas.openxmlformats.org/officeDocument/2006/relationships/slide" Target="/ppt/slides/slide10.xml" Id="Re67aa93c8cc6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7ae146b33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f9b69107fc4bd1" /><Relationship Type="http://schemas.openxmlformats.org/officeDocument/2006/relationships/notesMaster" Target="/ppt/notesMasters/notesMaster1.xml" Id="R11a4e2e8855449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d2c65725534a2f" /><Relationship Type="http://schemas.openxmlformats.org/officeDocument/2006/relationships/notesMaster" Target="/ppt/notesMasters/notesMaster1.xml" Id="R78a774bb6bdb4c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4cb149bec4157" /><Relationship Type="http://schemas.openxmlformats.org/officeDocument/2006/relationships/notesMaster" Target="/ppt/notesMasters/notesMaster1.xml" Id="R719bc13f05aa47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10ca204d548cc" /><Relationship Type="http://schemas.openxmlformats.org/officeDocument/2006/relationships/notesMaster" Target="/ppt/notesMasters/notesMaster1.xml" Id="R29eb01ed59c2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358dcb4451413f" /><Relationship Type="http://schemas.openxmlformats.org/officeDocument/2006/relationships/notesMaster" Target="/ppt/notesMasters/notesMaster1.xml" Id="Rdc785179452d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5d25d801f34fe2" /><Relationship Type="http://schemas.openxmlformats.org/officeDocument/2006/relationships/notesMaster" Target="/ppt/notesMasters/notesMaster1.xml" Id="Rd679d513514d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5f1675eee74be0" /><Relationship Type="http://schemas.openxmlformats.org/officeDocument/2006/relationships/notesMaster" Target="/ppt/notesMasters/notesMaster1.xml" Id="R1e5b3a66ceae44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5e742d16d04dbc" /><Relationship Type="http://schemas.openxmlformats.org/officeDocument/2006/relationships/notesMaster" Target="/ppt/notesMasters/notesMaster1.xml" Id="Rb2967e133fd54f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cafdb155614369" /><Relationship Type="http://schemas.openxmlformats.org/officeDocument/2006/relationships/notesMaster" Target="/ppt/notesMasters/notesMaster1.xml" Id="R5f1404b7734e40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7878e588a34429" /><Relationship Type="http://schemas.openxmlformats.org/officeDocument/2006/relationships/notesMaster" Target="/ppt/notesMasters/notesMaster1.xml" Id="Rc9df74520607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9e5bc6b9b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5c1fc59384bc6" /><Relationship Type="http://schemas.openxmlformats.org/officeDocument/2006/relationships/slideLayout" Target="/ppt/slideLayouts/slideLayout1.xml" Id="Ra68ddec260ed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ddec260ed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818a465c54202" /><Relationship Type="http://schemas.openxmlformats.org/officeDocument/2006/relationships/image" Target="/ppt/media/image.png" Id="Ra2405a244e26443f" /><Relationship Type="http://schemas.openxmlformats.org/officeDocument/2006/relationships/notesSlide" Target="/ppt/notesSlides/notesSlide1.xml" Id="R88968c80fe2f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4c1c3202a4671" /><Relationship Type="http://schemas.openxmlformats.org/officeDocument/2006/relationships/notesSlide" Target="/ppt/notesSlides/notesSlide2.xml" Id="R5638214de1194c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d90fa43c242cd" /><Relationship Type="http://schemas.openxmlformats.org/officeDocument/2006/relationships/image" Target="/ppt/media/image2.png" Id="R93a94ba90fd64a4a" /><Relationship Type="http://schemas.openxmlformats.org/officeDocument/2006/relationships/notesSlide" Target="/ppt/notesSlides/notesSlide3.xml" Id="R0cfe7786ac80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d562597c4cc6" /><Relationship Type="http://schemas.openxmlformats.org/officeDocument/2006/relationships/notesSlide" Target="/ppt/notesSlides/notesSlide4.xml" Id="R869daf8e9c90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4f2fb048417f" /><Relationship Type="http://schemas.openxmlformats.org/officeDocument/2006/relationships/image" Target="/ppt/media/image.jpeg" Id="R386a351708b5434d" /><Relationship Type="http://schemas.openxmlformats.org/officeDocument/2006/relationships/image" Target="/ppt/media/image3.png" Id="R3f2e9fa2b06543e9" /><Relationship Type="http://schemas.openxmlformats.org/officeDocument/2006/relationships/notesSlide" Target="/ppt/notesSlides/notesSlide5.xml" Id="Ra42dbb3d9e324d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af761827e4e29" /><Relationship Type="http://schemas.openxmlformats.org/officeDocument/2006/relationships/image" Target="/ppt/media/image4.png" Id="R9fc696ddecad4695" /><Relationship Type="http://schemas.openxmlformats.org/officeDocument/2006/relationships/notesSlide" Target="/ppt/notesSlides/notesSlide6.xml" Id="R1a9758f1268e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ab7a38ebd4ed0" /><Relationship Type="http://schemas.openxmlformats.org/officeDocument/2006/relationships/notesSlide" Target="/ppt/notesSlides/notesSlide7.xml" Id="R62a379e9d70243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e6d200e4e48e9" /><Relationship Type="http://schemas.openxmlformats.org/officeDocument/2006/relationships/notesSlide" Target="/ppt/notesSlides/notesSlide8.xml" Id="R1226ce468b8242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c6081ac4d41ba" /><Relationship Type="http://schemas.openxmlformats.org/officeDocument/2006/relationships/notesSlide" Target="/ppt/notesSlides/notesSlide9.xml" Id="R26d6210f3a20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de523623b4715" /><Relationship Type="http://schemas.openxmlformats.org/officeDocument/2006/relationships/notesSlide" Target="/ppt/notesSlides/notesSlide10.xml" Id="Raf06c19117eb46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05a244e26443f"/>
          <a:srcRect xmlns:a="http://schemas.openxmlformats.org/drawingml/2006/main" l="10156" t="0" r="101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0"/>
            <a:ext cx="72866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0C35E5FE-EE72-42BE-873A-3A1A747B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238B1C7-2F0C-4068-87D8-C384DF3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E1FC229-2782-492D-8AE8-CB126D37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3D COOKING ACTION / PROTOTYPE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8B20174-CFD5-4586-B235-35A20533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FriedRiceGame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F54622E-2443-4D45-955E-5D29D398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鍋を振れ。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必殺技で、炒飯を魅せろ。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96C2BD7C-AE63-460C-AC2D-4D791FD9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0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D8D0CA"/>
                </a:solidFill>
                <a:latin typeface="Yu Gothic"/>
                <a:ea typeface="Yu Gothic"/>
                <a:cs typeface="Yu Gothic"/>
              </a:rPr>
              <a:t>ゲームプランナー応募用 企画書（仮題）</a:t>
            </a:r>
          </a:p>
          <a:p xmlns:a="http://schemas.openxmlformats.org/drawingml/2006/main">
            <a:pPr algn="l">
              <a:defRPr sz="1275" b="0">
                <a:solidFill>
                  <a:srgbClr val="D8D0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D8D0CA"/>
                </a:solidFill>
                <a:latin typeface="Yu Gothic"/>
                <a:ea typeface="Yu Gothic"/>
                <a:cs typeface="Yu Gothic"/>
              </a:rPr>
              <a:t>正式タイトル：要確認</a:t>
            </a:r>
          </a:p>
        </p:txBody>
      </p:sp>
    </p:spTree>
    <p:extLst>
      <p:ext uri="{BB962C8B-B14F-4D97-AF65-F5344CB8AC3E}">
        <p14:creationId xmlns:p14="http://schemas.microsoft.com/office/powerpoint/2010/main" val="1807947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-2">
            <a:extLst xmlns:a="http://schemas.openxmlformats.org/drawingml/2006/main">
              <a:ext uri="{FF2B5EF4-FFF2-40B4-BE49-F238E27FC236}">
                <a16:creationId xmlns:a16="http://schemas.microsoft.com/office/drawing/2014/main" id="{77418B11-A452-409A-865A-087D44E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3CA4490-D402-41B6-A4BF-DCB2988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料理の手触りを、必殺技の爽快感へ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C9BD1820-7147-422B-945D-48B9C73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377F048-F4D7-491B-8D15-7587380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c1">
            <a:extLst xmlns:a="http://schemas.openxmlformats.org/drawingml/2006/main">
              <a:ext uri="{FF2B5EF4-FFF2-40B4-BE49-F238E27FC236}">
                <a16:creationId xmlns:a16="http://schemas.microsoft.com/office/drawing/2014/main" id="{AD96A373-11FE-42E7-AE9D-2001A8D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中華鍋を振る</a:t>
            </a:r>
          </a:p>
        </p:txBody>
      </p:sp>
      <p:sp>
        <p:nvSpPr>
          <p:cNvPr id="6" name="p1">
            <a:extLst xmlns:a="http://schemas.openxmlformats.org/drawingml/2006/main">
              <a:ext uri="{FF2B5EF4-FFF2-40B4-BE49-F238E27FC236}">
                <a16:creationId xmlns:a16="http://schemas.microsoft.com/office/drawing/2014/main" id="{5605B951-8075-442E-8882-3A241C4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7" name="c2">
            <a:extLst xmlns:a="http://schemas.openxmlformats.org/drawingml/2006/main">
              <a:ext uri="{FF2B5EF4-FFF2-40B4-BE49-F238E27FC236}">
                <a16:creationId xmlns:a16="http://schemas.microsoft.com/office/drawing/2014/main" id="{BB8B6D50-C06E-4394-968C-79B50292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097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米が物理で舞う</a:t>
            </a:r>
          </a:p>
        </p:txBody>
      </p:sp>
      <p:sp>
        <p:nvSpPr>
          <p:cNvPr id="8" name="p2">
            <a:extLst xmlns:a="http://schemas.openxmlformats.org/drawingml/2006/main">
              <a:ext uri="{FF2B5EF4-FFF2-40B4-BE49-F238E27FC236}">
                <a16:creationId xmlns:a16="http://schemas.microsoft.com/office/drawing/2014/main" id="{5A64C611-926C-44B0-BD56-00B23BF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9" name="c3">
            <a:extLst xmlns:a="http://schemas.openxmlformats.org/drawingml/2006/main">
              <a:ext uri="{FF2B5EF4-FFF2-40B4-BE49-F238E27FC236}">
                <a16:creationId xmlns:a16="http://schemas.microsoft.com/office/drawing/2014/main" id="{95294E40-5B6C-4358-BB93-7D928820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097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コマンドを決める</a:t>
            </a:r>
          </a:p>
        </p:txBody>
      </p:sp>
      <p:sp>
        <p:nvSpPr>
          <p:cNvPr id="10" name="concept">
            <a:extLst xmlns:a="http://schemas.openxmlformats.org/drawingml/2006/main">
              <a:ext uri="{FF2B5EF4-FFF2-40B4-BE49-F238E27FC236}">
                <a16:creationId xmlns:a16="http://schemas.microsoft.com/office/drawing/2014/main" id="{00E7BE34-A691-4998-9FE5-DA30AFB2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uote">
            <a:extLst xmlns:a="http://schemas.openxmlformats.org/drawingml/2006/main">
              <a:ext uri="{FF2B5EF4-FFF2-40B4-BE49-F238E27FC236}">
                <a16:creationId xmlns:a16="http://schemas.microsoft.com/office/drawing/2014/main" id="{8E38A2E2-8716-4B76-9307-0ED0E40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85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“日常の料理動作”を、</a:t>
            </a:r>
          </a:p>
          <a:p xmlns:a="http://schemas.openxmlformats.org/drawingml/2006/main">
            <a:pPr algn="l">
              <a:defRPr sz="315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短時間で熱くなれるスコアアタックへ。</a:t>
            </a:r>
          </a:p>
        </p:txBody>
      </p:sp>
      <p:sp>
        <p:nvSpPr>
          <p:cNvPr id="12" name="desc">
            <a:extLst xmlns:a="http://schemas.openxmlformats.org/drawingml/2006/main">
              <a:ext uri="{FF2B5EF4-FFF2-40B4-BE49-F238E27FC236}">
                <a16:creationId xmlns:a16="http://schemas.microsoft.com/office/drawing/2014/main" id="{020496D4-6B31-486B-B957-38977D5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鍋振り・物理挙動・スローモーション・炎の龍・効果音を一続きにし、入力した瞬間から結果まで気持ちよくつなげる。</a:t>
            </a:r>
          </a:p>
        </p:txBody>
      </p:sp>
      <p:sp>
        <p:nvSpPr>
          <p:cNvPr id="13" name="src-12">
            <a:extLst xmlns:a="http://schemas.openxmlformats.org/drawingml/2006/main">
              <a:ext uri="{FF2B5EF4-FFF2-40B4-BE49-F238E27FC236}">
                <a16:creationId xmlns:a16="http://schemas.microsoft.com/office/drawing/2014/main" id="{F91969AF-FDAA-4BE8-8918-16D8BB89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出典：Assets内の実装スクリプト／ゲーム企画書下書き</a:t>
            </a:r>
          </a:p>
        </p:txBody>
      </p:sp>
    </p:spTree>
    <p:extLst>
      <p:ext uri="{BB962C8B-B14F-4D97-AF65-F5344CB8AC3E}">
        <p14:creationId xmlns:p14="http://schemas.microsoft.com/office/powerpoint/2010/main" val="1202536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-3">
            <a:extLst xmlns:a="http://schemas.openxmlformats.org/drawingml/2006/main">
              <a:ext uri="{FF2B5EF4-FFF2-40B4-BE49-F238E27FC236}">
                <a16:creationId xmlns:a16="http://schemas.microsoft.com/office/drawing/2014/main" id="{0341CFD5-D700-4B51-9832-F834147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4E3BC3C-AD6D-493B-924C-9A1E4AC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60秒で“振る・溜める・決める”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8ED982AD-CA5F-4AC8-9DE4-4857367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9B88147-E3A8-46BE-BFF3-0F4F8BF2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gameplay-screen-frame">
            <a:extLst xmlns:a="http://schemas.openxmlformats.org/drawingml/2006/main">
              <a:ext uri="{FF2B5EF4-FFF2-40B4-BE49-F238E27FC236}">
                <a16:creationId xmlns:a16="http://schemas.microsoft.com/office/drawing/2014/main" id="{4CA92AD5-3FA2-4D3B-A07E-A283799D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71625"/>
            <a:ext cx="565785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94ba90fd64a4a"/>
          <a:srcRect xmlns:a="http://schemas.openxmlformats.org/drawingml/2006/main" l="11073" t="0" r="11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00200"/>
            <a:ext cx="56007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lead">
            <a:extLst xmlns:a="http://schemas.openxmlformats.org/drawingml/2006/main">
              <a:ext uri="{FF2B5EF4-FFF2-40B4-BE49-F238E27FC236}">
                <a16:creationId xmlns:a16="http://schemas.microsoft.com/office/drawing/2014/main" id="{F10E08C0-9468-49EE-B891-A1D98997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中華鍋を振って得点し、</a:t>
            </a:r>
          </a:p>
          <a:p xmlns:a="http://schemas.openxmlformats.org/drawingml/2006/main">
            <a:pPr algn="l">
              <a:defRPr sz="24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必殺技で一気に伸ばす。</a:t>
            </a:r>
          </a:p>
        </p:txBody>
      </p:sp>
      <p:sp>
        <p:nvSpPr>
          <p:cNvPr id="8" name="st0">
            <a:extLst xmlns:a="http://schemas.openxmlformats.org/drawingml/2006/main">
              <a:ext uri="{FF2B5EF4-FFF2-40B4-BE49-F238E27FC236}">
                <a16:creationId xmlns:a16="http://schemas.microsoft.com/office/drawing/2014/main" id="{8984AF6A-C5C4-4CB2-97B8-A18B507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60秒</a:t>
            </a:r>
          </a:p>
        </p:txBody>
      </p:sp>
      <p:sp>
        <p:nvSpPr>
          <p:cNvPr id="9" name="sl0">
            <a:extLst xmlns:a="http://schemas.openxmlformats.org/drawingml/2006/main">
              <a:ext uri="{FF2B5EF4-FFF2-40B4-BE49-F238E27FC236}">
                <a16:creationId xmlns:a16="http://schemas.microsoft.com/office/drawing/2014/main" id="{92CF2ABA-1A4B-4720-9D11-AD4C40A9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86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1プレイ</a:t>
            </a:r>
          </a:p>
        </p:txBody>
      </p:sp>
      <p:sp>
        <p:nvSpPr>
          <p:cNvPr id="10" name="st1">
            <a:extLst xmlns:a="http://schemas.openxmlformats.org/drawingml/2006/main">
              <a:ext uri="{FF2B5EF4-FFF2-40B4-BE49-F238E27FC236}">
                <a16:creationId xmlns:a16="http://schemas.microsoft.com/office/drawing/2014/main" id="{E58AD7B3-0353-45E7-B629-D5A95FA1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100点</a:t>
            </a:r>
          </a:p>
        </p:txBody>
      </p:sp>
      <p:sp>
        <p:nvSpPr>
          <p:cNvPr id="11" name="sl1">
            <a:extLst xmlns:a="http://schemas.openxmlformats.org/drawingml/2006/main">
              <a:ext uri="{FF2B5EF4-FFF2-40B4-BE49-F238E27FC236}">
                <a16:creationId xmlns:a16="http://schemas.microsoft.com/office/drawing/2014/main" id="{E5228354-363D-4BAB-B0C8-42E1DF85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86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鍋振り1回</a:t>
            </a:r>
          </a:p>
        </p:txBody>
      </p:sp>
      <p:sp>
        <p:nvSpPr>
          <p:cNvPr id="12" name="st2">
            <a:extLst xmlns:a="http://schemas.openxmlformats.org/drawingml/2006/main">
              <a:ext uri="{FF2B5EF4-FFF2-40B4-BE49-F238E27FC236}">
                <a16:creationId xmlns:a16="http://schemas.microsoft.com/office/drawing/2014/main" id="{EF18DF65-9875-47EE-86FA-581FA37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1,000点</a:t>
            </a:r>
          </a:p>
        </p:txBody>
      </p:sp>
      <p:sp>
        <p:nvSpPr>
          <p:cNvPr id="13" name="sl2">
            <a:extLst xmlns:a="http://schemas.openxmlformats.org/drawingml/2006/main">
              <a:ext uri="{FF2B5EF4-FFF2-40B4-BE49-F238E27FC236}">
                <a16:creationId xmlns:a16="http://schemas.microsoft.com/office/drawing/2014/main" id="{2C9360B8-1CAD-4AF0-AA59-EEE2108A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86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必殺技成功</a:t>
            </a:r>
          </a:p>
        </p:txBody>
      </p:sp>
      <p:sp>
        <p:nvSpPr>
          <p:cNvPr id="14" name="target">
            <a:extLst xmlns:a="http://schemas.openxmlformats.org/drawingml/2006/main">
              <a:ext uri="{FF2B5EF4-FFF2-40B4-BE49-F238E27FC236}">
                <a16:creationId xmlns:a16="http://schemas.microsoft.com/office/drawing/2014/main" id="{DBD52333-CCDF-4766-AD07-467EBDC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想定ターゲット：要確認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現状はPC・キーボード・1人用として実装</a:t>
            </a:r>
          </a:p>
        </p:txBody>
      </p:sp>
      <p:sp>
        <p:nvSpPr>
          <p:cNvPr id="15" name="src-13">
            <a:extLst xmlns:a="http://schemas.openxmlformats.org/drawingml/2006/main">
              <a:ext uri="{FF2B5EF4-FFF2-40B4-BE49-F238E27FC236}">
                <a16:creationId xmlns:a16="http://schemas.microsoft.com/office/drawing/2014/main" id="{4D691311-0D2C-45C9-96BE-236AF336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出典：GameSessionController.cs / SlowMotionCommandSystem.cs</a:t>
            </a:r>
          </a:p>
        </p:txBody>
      </p:sp>
    </p:spTree>
    <p:extLst>
      <p:ext uri="{BB962C8B-B14F-4D97-AF65-F5344CB8AC3E}">
        <p14:creationId xmlns:p14="http://schemas.microsoft.com/office/powerpoint/2010/main" val="22522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-4">
            <a:extLst xmlns:a="http://schemas.openxmlformats.org/drawingml/2006/main">
              <a:ext uri="{FF2B5EF4-FFF2-40B4-BE49-F238E27FC236}">
                <a16:creationId xmlns:a16="http://schemas.microsoft.com/office/drawing/2014/main" id="{8CD98510-1101-4928-956C-7531785D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804CD48-AF60-4365-947B-747777E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短い判断の連続が、次の鍋振りを誘う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D559E553-75B3-42EA-8915-B99E5F36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A6BD88D-B31F-49E4-B7BA-D958D8D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237B2567-8CE5-476F-A4D7-816DE22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de0">
            <a:extLst xmlns:a="http://schemas.openxmlformats.org/drawingml/2006/main">
              <a:ext uri="{FF2B5EF4-FFF2-40B4-BE49-F238E27FC236}">
                <a16:creationId xmlns:a16="http://schemas.microsoft.com/office/drawing/2014/main" id="{E987E0A3-DAD3-4FE2-9493-0023BD4B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0">
            <a:extLst xmlns:a="http://schemas.openxmlformats.org/drawingml/2006/main">
              <a:ext uri="{FF2B5EF4-FFF2-40B4-BE49-F238E27FC236}">
                <a16:creationId xmlns:a16="http://schemas.microsoft.com/office/drawing/2014/main" id="{D868E1F4-F5C3-4EB0-A166-52A50DB4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ft0">
            <a:extLst xmlns:a="http://schemas.openxmlformats.org/drawingml/2006/main">
              <a:ext uri="{FF2B5EF4-FFF2-40B4-BE49-F238E27FC236}">
                <a16:creationId xmlns:a16="http://schemas.microsoft.com/office/drawing/2014/main" id="{2A065D1A-A6A0-4255-8FB3-55155327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振る</a:t>
            </a:r>
          </a:p>
        </p:txBody>
      </p:sp>
      <p:sp>
        <p:nvSpPr>
          <p:cNvPr id="9" name="fb0">
            <a:extLst xmlns:a="http://schemas.openxmlformats.org/drawingml/2006/main">
              <a:ext uri="{FF2B5EF4-FFF2-40B4-BE49-F238E27FC236}">
                <a16:creationId xmlns:a16="http://schemas.microsoft.com/office/drawing/2014/main" id="{CF76E7BA-98E0-4FDB-A7E1-64715408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Space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+100点 / ゲージ+25%</a:t>
            </a:r>
          </a:p>
        </p:txBody>
      </p:sp>
      <p:sp>
        <p:nvSpPr>
          <p:cNvPr id="10" name="node1">
            <a:extLst xmlns:a="http://schemas.openxmlformats.org/drawingml/2006/main">
              <a:ext uri="{FF2B5EF4-FFF2-40B4-BE49-F238E27FC236}">
                <a16:creationId xmlns:a16="http://schemas.microsoft.com/office/drawing/2014/main" id="{7893F56C-3EC5-4808-AB4B-C231964A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1">
            <a:extLst xmlns:a="http://schemas.openxmlformats.org/drawingml/2006/main">
              <a:ext uri="{FF2B5EF4-FFF2-40B4-BE49-F238E27FC236}">
                <a16:creationId xmlns:a16="http://schemas.microsoft.com/office/drawing/2014/main" id="{5E6F2DD5-0970-4C06-A742-CABD7DF1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ft1">
            <a:extLst xmlns:a="http://schemas.openxmlformats.org/drawingml/2006/main">
              <a:ext uri="{FF2B5EF4-FFF2-40B4-BE49-F238E27FC236}">
                <a16:creationId xmlns:a16="http://schemas.microsoft.com/office/drawing/2014/main" id="{4ECBF40A-25F5-4F70-AAB3-6BBA67F8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溜める</a:t>
            </a:r>
          </a:p>
        </p:txBody>
      </p:sp>
      <p:sp>
        <p:nvSpPr>
          <p:cNvPr id="13" name="fb1">
            <a:extLst xmlns:a="http://schemas.openxmlformats.org/drawingml/2006/main">
              <a:ext uri="{FF2B5EF4-FFF2-40B4-BE49-F238E27FC236}">
                <a16:creationId xmlns:a16="http://schemas.microsoft.com/office/drawing/2014/main" id="{BFE2B663-C877-4073-AEDD-DDC05699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195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ゲージMAX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クールタイム完了</a:t>
            </a:r>
          </a:p>
        </p:txBody>
      </p:sp>
      <p:sp>
        <p:nvSpPr>
          <p:cNvPr id="14" name="node2">
            <a:extLst xmlns:a="http://schemas.openxmlformats.org/drawingml/2006/main">
              <a:ext uri="{FF2B5EF4-FFF2-40B4-BE49-F238E27FC236}">
                <a16:creationId xmlns:a16="http://schemas.microsoft.com/office/drawing/2014/main" id="{111B4A65-F5F8-4C18-B066-02CE16F4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2">
            <a:extLst xmlns:a="http://schemas.openxmlformats.org/drawingml/2006/main">
              <a:ext uri="{FF2B5EF4-FFF2-40B4-BE49-F238E27FC236}">
                <a16:creationId xmlns:a16="http://schemas.microsoft.com/office/drawing/2014/main" id="{508D2CFD-7609-495B-BEA5-F0F8D278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ft2">
            <a:extLst xmlns:a="http://schemas.openxmlformats.org/drawingml/2006/main">
              <a:ext uri="{FF2B5EF4-FFF2-40B4-BE49-F238E27FC236}">
                <a16:creationId xmlns:a16="http://schemas.microsoft.com/office/drawing/2014/main" id="{9ECF5709-F4FC-4D36-AB2F-5293276E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挑む</a:t>
            </a:r>
          </a:p>
        </p:txBody>
      </p:sp>
      <p:sp>
        <p:nvSpPr>
          <p:cNvPr id="17" name="fb2">
            <a:extLst xmlns:a="http://schemas.openxmlformats.org/drawingml/2006/main">
              <a:ext uri="{FF2B5EF4-FFF2-40B4-BE49-F238E27FC236}">
                <a16:creationId xmlns:a16="http://schemas.microsoft.com/office/drawing/2014/main" id="{7FC07B73-F33D-4F7D-A1C7-B92A0B0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Pで開始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2.8秒コマンド</a:t>
            </a:r>
          </a:p>
        </p:txBody>
      </p:sp>
      <p:sp>
        <p:nvSpPr>
          <p:cNvPr id="18" name="node3">
            <a:extLst xmlns:a="http://schemas.openxmlformats.org/drawingml/2006/main">
              <a:ext uri="{FF2B5EF4-FFF2-40B4-BE49-F238E27FC236}">
                <a16:creationId xmlns:a16="http://schemas.microsoft.com/office/drawing/2014/main" id="{042FB191-72BE-49DA-81BD-CB99F4D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3">
            <a:extLst xmlns:a="http://schemas.openxmlformats.org/drawingml/2006/main">
              <a:ext uri="{FF2B5EF4-FFF2-40B4-BE49-F238E27FC236}">
                <a16:creationId xmlns:a16="http://schemas.microsoft.com/office/drawing/2014/main" id="{25B1F6F1-C8A2-4D2A-8496-382B0F8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ft3">
            <a:extLst xmlns:a="http://schemas.openxmlformats.org/drawingml/2006/main">
              <a:ext uri="{FF2B5EF4-FFF2-40B4-BE49-F238E27FC236}">
                <a16:creationId xmlns:a16="http://schemas.microsoft.com/office/drawing/2014/main" id="{E5331B1B-6035-4C79-B6DB-A177DBA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決める</a:t>
            </a:r>
          </a:p>
        </p:txBody>
      </p:sp>
      <p:sp>
        <p:nvSpPr>
          <p:cNvPr id="21" name="fb3">
            <a:extLst xmlns:a="http://schemas.openxmlformats.org/drawingml/2006/main">
              <a:ext uri="{FF2B5EF4-FFF2-40B4-BE49-F238E27FC236}">
                <a16:creationId xmlns:a16="http://schemas.microsoft.com/office/drawing/2014/main" id="{ECA31B93-0ADD-433E-9AE3-8A851D11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龍昇飯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+1,000点</a:t>
            </a:r>
          </a:p>
        </p:txBody>
      </p:sp>
      <p:sp>
        <p:nvSpPr>
          <p:cNvPr id="22" name="result">
            <a:extLst xmlns:a="http://schemas.openxmlformats.org/drawingml/2006/main">
              <a:ext uri="{FF2B5EF4-FFF2-40B4-BE49-F238E27FC236}">
                <a16:creationId xmlns:a16="http://schemas.microsoft.com/office/drawing/2014/main" id="{6C35B864-54F9-4149-8B85-624DE55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ult-copy">
            <a:extLst xmlns:a="http://schemas.openxmlformats.org/drawingml/2006/main">
              <a:ext uri="{FF2B5EF4-FFF2-40B4-BE49-F238E27FC236}">
                <a16:creationId xmlns:a16="http://schemas.microsoft.com/office/drawing/2014/main" id="{FAC683E4-633F-41A7-992E-F1E244FE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530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TIME UP → A / B / Cランク → Rキーですぐ再挑戦</a:t>
            </a:r>
          </a:p>
        </p:txBody>
      </p:sp>
      <p:sp>
        <p:nvSpPr>
          <p:cNvPr id="24" name="src-23">
            <a:extLst xmlns:a="http://schemas.openxmlformats.org/drawingml/2006/main">
              <a:ext uri="{FF2B5EF4-FFF2-40B4-BE49-F238E27FC236}">
                <a16:creationId xmlns:a16="http://schemas.microsoft.com/office/drawing/2014/main" id="{EDFAE03B-8008-436A-B440-8CEBF8D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出典：PanTossController.cs / SlowMotionCommandSystem.cs / GameSessionController.cs</a:t>
            </a:r>
          </a:p>
        </p:txBody>
      </p:sp>
    </p:spTree>
    <p:extLst>
      <p:ext uri="{BB962C8B-B14F-4D97-AF65-F5344CB8AC3E}">
        <p14:creationId xmlns:p14="http://schemas.microsoft.com/office/powerpoint/2010/main" val="1705981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-5">
            <a:extLst xmlns:a="http://schemas.openxmlformats.org/drawingml/2006/main">
              <a:ext uri="{FF2B5EF4-FFF2-40B4-BE49-F238E27FC236}">
                <a16:creationId xmlns:a16="http://schemas.microsoft.com/office/drawing/2014/main" id="{7FF1AFCD-74B3-4739-A4EA-C5F2E376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DFF7E86-ECE7-4790-9F7E-7B5F90B1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鍋は“下から上へ弧を描く”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90130659-048F-4AA6-8FD3-E52B1080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E426B86-642F-4EAD-9921-447BEA6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motion-sketch-frame">
            <a:extLst xmlns:a="http://schemas.openxmlformats.org/drawingml/2006/main">
              <a:ext uri="{FF2B5EF4-FFF2-40B4-BE49-F238E27FC236}">
                <a16:creationId xmlns:a16="http://schemas.microsoft.com/office/drawing/2014/main" id="{75A80E09-95B2-4B91-8925-7825D9A1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38300"/>
            <a:ext cx="42481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a351708b5434d"/>
          <a:stretch xmlns:a="http://schemas.openxmlformats.org/drawingml/2006/main"/>
        </p:blipFill>
        <p:spPr>
          <a:xfrm xmlns:a="http://schemas.openxmlformats.org/drawingml/2006/main">
            <a:off x="400050" y="2440781"/>
            <a:ext cx="4191000" cy="2357438"/>
          </a:xfrm>
          <a:prstGeom xmlns:a="http://schemas.openxmlformats.org/drawingml/2006/main" prst="rect">
            <a:avLst/>
          </a:prstGeom>
        </p:spPr>
      </p:pic>
      <p:sp>
        <p:nvSpPr>
          <p:cNvPr id="7" name="rice-shot-frame">
            <a:extLst xmlns:a="http://schemas.openxmlformats.org/drawingml/2006/main">
              <a:ext uri="{FF2B5EF4-FFF2-40B4-BE49-F238E27FC236}">
                <a16:creationId xmlns:a16="http://schemas.microsoft.com/office/drawing/2014/main" id="{5EC6CAA1-DC04-4B6D-9E0B-264D689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38300"/>
            <a:ext cx="48006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e9fa2b06543e9"/>
          <a:srcRect xmlns:a="http://schemas.openxmlformats.org/drawingml/2006/main" l="0" t="6481" r="0" b="6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666875"/>
            <a:ext cx="4743450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m1">
            <a:extLst xmlns:a="http://schemas.openxmlformats.org/drawingml/2006/main">
              <a:ext uri="{FF2B5EF4-FFF2-40B4-BE49-F238E27FC236}">
                <a16:creationId xmlns:a16="http://schemas.microsoft.com/office/drawing/2014/main" id="{277969E6-28BF-4618-8DE7-05C83A6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予備動作</a:t>
            </a:r>
          </a:p>
        </p:txBody>
      </p:sp>
      <p:sp>
        <p:nvSpPr>
          <p:cNvPr id="10" name="m2">
            <a:extLst xmlns:a="http://schemas.openxmlformats.org/drawingml/2006/main">
              <a:ext uri="{FF2B5EF4-FFF2-40B4-BE49-F238E27FC236}">
                <a16:creationId xmlns:a16="http://schemas.microsoft.com/office/drawing/2014/main" id="{8FA41431-2EF3-4C2B-80AC-C00D84BA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手前・下へ引く</a:t>
            </a:r>
          </a:p>
        </p:txBody>
      </p:sp>
      <p:sp>
        <p:nvSpPr>
          <p:cNvPr id="11" name="m3">
            <a:extLst xmlns:a="http://schemas.openxmlformats.org/drawingml/2006/main">
              <a:ext uri="{FF2B5EF4-FFF2-40B4-BE49-F238E27FC236}">
                <a16:creationId xmlns:a16="http://schemas.microsoft.com/office/drawing/2014/main" id="{0C379500-96BD-4C70-A9D7-80169BBB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振り上げ</a:t>
            </a:r>
          </a:p>
        </p:txBody>
      </p:sp>
      <p:sp>
        <p:nvSpPr>
          <p:cNvPr id="12" name="m4">
            <a:extLst xmlns:a="http://schemas.openxmlformats.org/drawingml/2006/main">
              <a:ext uri="{FF2B5EF4-FFF2-40B4-BE49-F238E27FC236}">
                <a16:creationId xmlns:a16="http://schemas.microsoft.com/office/drawing/2014/main" id="{7CA6EF94-3DF8-4A65-AA48-782584D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前方・上へ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ベジェ曲線で加速</a:t>
            </a:r>
          </a:p>
        </p:txBody>
      </p:sp>
      <p:sp>
        <p:nvSpPr>
          <p:cNvPr id="13" name="mcap">
            <a:extLst xmlns:a="http://schemas.openxmlformats.org/drawingml/2006/main">
              <a:ext uri="{FF2B5EF4-FFF2-40B4-BE49-F238E27FC236}">
                <a16:creationId xmlns:a16="http://schemas.microsoft.com/office/drawing/2014/main" id="{3D9420B3-7C4C-4BC1-8693-39E3D4C4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05375"/>
            <a:ext cx="4743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Rigidbodyの米・卵・ネギが鍋の動きに反応。透明な筒状ガイドと持ち手側ガードで、遊びやすさも調整している。</a:t>
            </a:r>
          </a:p>
        </p:txBody>
      </p:sp>
      <p:sp>
        <p:nvSpPr>
          <p:cNvPr id="14" name="src-11">
            <a:extLst xmlns:a="http://schemas.openxmlformats.org/drawingml/2006/main">
              <a:ext uri="{FF2B5EF4-FFF2-40B4-BE49-F238E27FC236}">
                <a16:creationId xmlns:a16="http://schemas.microsoft.com/office/drawing/2014/main" id="{54A6EA5D-67CB-44AA-BA3E-A8A8FBE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出典：PanTossController.cs / RiceSpawner.cs / RiceGuideTube.cs／制作者スケッチ・Unity画面</a:t>
            </a:r>
          </a:p>
        </p:txBody>
      </p:sp>
    </p:spTree>
    <p:extLst>
      <p:ext uri="{BB962C8B-B14F-4D97-AF65-F5344CB8AC3E}">
        <p14:creationId xmlns:p14="http://schemas.microsoft.com/office/powerpoint/2010/main" val="655346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-6">
            <a:extLst xmlns:a="http://schemas.openxmlformats.org/drawingml/2006/main">
              <a:ext uri="{FF2B5EF4-FFF2-40B4-BE49-F238E27FC236}">
                <a16:creationId xmlns:a16="http://schemas.microsoft.com/office/drawing/2014/main" id="{EF420A8D-AD14-4D80-8E50-58228AB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2205050-DF96-43D8-A85F-4180D9C9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発動タイミングはプレイヤーが選ぶ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0EF15C8-97AE-4974-9DAE-CC519AB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6BFC50C2-5C20-4A93-B2CA-BBD3B75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technique-system-frame">
            <a:extLst xmlns:a="http://schemas.openxmlformats.org/drawingml/2006/main">
              <a:ext uri="{FF2B5EF4-FFF2-40B4-BE49-F238E27FC236}">
                <a16:creationId xmlns:a16="http://schemas.microsoft.com/office/drawing/2014/main" id="{8AF8ABC8-5648-4C36-A562-E1DD0FC4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0675"/>
            <a:ext cx="58674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696ddecad4695"/>
          <a:stretch xmlns:a="http://schemas.openxmlformats.org/drawingml/2006/main"/>
        </p:blipFill>
        <p:spPr>
          <a:xfrm xmlns:a="http://schemas.openxmlformats.org/drawingml/2006/main">
            <a:off x="400050" y="1873250"/>
            <a:ext cx="5810250" cy="3873500"/>
          </a:xfrm>
          <a:prstGeom xmlns:a="http://schemas.openxmlformats.org/drawingml/2006/main" prst="rect">
            <a:avLst/>
          </a:prstGeom>
        </p:spPr>
      </p:pic>
      <p:sp>
        <p:nvSpPr>
          <p:cNvPr id="7" name="qt">
            <a:extLst xmlns:a="http://schemas.openxmlformats.org/drawingml/2006/main">
              <a:ext uri="{FF2B5EF4-FFF2-40B4-BE49-F238E27FC236}">
                <a16:creationId xmlns:a16="http://schemas.microsoft.com/office/drawing/2014/main" id="{D851356D-317A-4FC5-BFAB-2D66155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必殺技の条件</a:t>
            </a:r>
          </a:p>
        </p:txBody>
      </p:sp>
      <p:sp>
        <p:nvSpPr>
          <p:cNvPr id="8" name="dot-6-252">
            <a:extLst xmlns:a="http://schemas.openxmlformats.org/drawingml/2006/main">
              <a:ext uri="{FF2B5EF4-FFF2-40B4-BE49-F238E27FC236}">
                <a16:creationId xmlns:a16="http://schemas.microsoft.com/office/drawing/2014/main" id="{8ABEF65F-B2F2-4405-A331-58EC81C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6-252">
            <a:extLst xmlns:a="http://schemas.openxmlformats.org/drawingml/2006/main">
              <a:ext uri="{FF2B5EF4-FFF2-40B4-BE49-F238E27FC236}">
                <a16:creationId xmlns:a16="http://schemas.microsoft.com/office/drawing/2014/main" id="{EE6C7625-8902-452F-B266-A4FB44E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鍋振り4回でゲージMAX</a:t>
            </a:r>
          </a:p>
        </p:txBody>
      </p:sp>
      <p:sp>
        <p:nvSpPr>
          <p:cNvPr id="10" name="dot-6-318">
            <a:extLst xmlns:a="http://schemas.openxmlformats.org/drawingml/2006/main">
              <a:ext uri="{FF2B5EF4-FFF2-40B4-BE49-F238E27FC236}">
                <a16:creationId xmlns:a16="http://schemas.microsoft.com/office/drawing/2014/main" id="{F325B2D1-49E3-4F39-9255-90DB9E26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6-318">
            <a:extLst xmlns:a="http://schemas.openxmlformats.org/drawingml/2006/main">
              <a:ext uri="{FF2B5EF4-FFF2-40B4-BE49-F238E27FC236}">
                <a16:creationId xmlns:a16="http://schemas.microsoft.com/office/drawing/2014/main" id="{D194213C-71D7-4ABE-91E1-E71CE65F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10秒のクールタイムが完了</a:t>
            </a:r>
          </a:p>
        </p:txBody>
      </p:sp>
      <p:sp>
        <p:nvSpPr>
          <p:cNvPr id="12" name="dot-6-384">
            <a:extLst xmlns:a="http://schemas.openxmlformats.org/drawingml/2006/main">
              <a:ext uri="{FF2B5EF4-FFF2-40B4-BE49-F238E27FC236}">
                <a16:creationId xmlns:a16="http://schemas.microsoft.com/office/drawing/2014/main" id="{8E37568A-5D5E-427A-92FB-CB0CFFC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6-384">
            <a:extLst xmlns:a="http://schemas.openxmlformats.org/drawingml/2006/main">
              <a:ext uri="{FF2B5EF4-FFF2-40B4-BE49-F238E27FC236}">
                <a16:creationId xmlns:a16="http://schemas.microsoft.com/office/drawing/2014/main" id="{E0CFB770-249A-4373-A27C-B0CB973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鍋振り中でないときにPキー</a:t>
            </a:r>
          </a:p>
        </p:txBody>
      </p:sp>
      <p:sp>
        <p:nvSpPr>
          <p:cNvPr id="14" name="cmd-band">
            <a:extLst xmlns:a="http://schemas.openxmlformats.org/drawingml/2006/main">
              <a:ext uri="{FF2B5EF4-FFF2-40B4-BE49-F238E27FC236}">
                <a16:creationId xmlns:a16="http://schemas.microsoft.com/office/drawing/2014/main" id="{E298E7F3-F968-499A-B42E-438ED1C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476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md">
            <a:extLst xmlns:a="http://schemas.openxmlformats.org/drawingml/2006/main">
              <a:ext uri="{FF2B5EF4-FFF2-40B4-BE49-F238E27FC236}">
                <a16:creationId xmlns:a16="http://schemas.microsoft.com/office/drawing/2014/main" id="{561CAA3F-5A3C-4B49-BB6F-3DFCC529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  →  D  →  W  →  SPACE</a:t>
            </a:r>
          </a:p>
        </p:txBody>
      </p:sp>
      <p:sp>
        <p:nvSpPr>
          <p:cNvPr id="16" name="cmdtime">
            <a:extLst xmlns:a="http://schemas.openxmlformats.org/drawingml/2006/main">
              <a:ext uri="{FF2B5EF4-FFF2-40B4-BE49-F238E27FC236}">
                <a16:creationId xmlns:a16="http://schemas.microsoft.com/office/drawing/2014/main" id="{F049DE71-1C70-4E4C-AA62-096C479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959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制限時間 2.8秒 / スロー倍率 0.18</a:t>
            </a:r>
          </a:p>
        </p:txBody>
      </p:sp>
      <p:sp>
        <p:nvSpPr>
          <p:cNvPr id="17" name="src-15">
            <a:extLst xmlns:a="http://schemas.openxmlformats.org/drawingml/2006/main">
              <a:ext uri="{FF2B5EF4-FFF2-40B4-BE49-F238E27FC236}">
                <a16:creationId xmlns:a16="http://schemas.microsoft.com/office/drawing/2014/main" id="{25FFF816-D060-4A14-BC87-BA0E05A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出典：SlowMotionCommandSystem.cs／初期コンセプト図</a:t>
            </a:r>
          </a:p>
        </p:txBody>
      </p:sp>
    </p:spTree>
    <p:extLst>
      <p:ext uri="{BB962C8B-B14F-4D97-AF65-F5344CB8AC3E}">
        <p14:creationId xmlns:p14="http://schemas.microsoft.com/office/powerpoint/2010/main" val="707967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2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k">
            <a:extLst xmlns:a="http://schemas.openxmlformats.org/drawingml/2006/main">
              <a:ext uri="{FF2B5EF4-FFF2-40B4-BE49-F238E27FC236}">
                <a16:creationId xmlns:a16="http://schemas.microsoft.com/office/drawing/2014/main" id="{630AECD2-DAC5-4545-98FE-8EEA1AC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SPECIAL TECHNIQUE</a:t>
            </a:r>
          </a:p>
        </p:txBody>
      </p:sp>
      <p:sp>
        <p:nvSpPr>
          <p:cNvPr id="2" name="dt">
            <a:extLst xmlns:a="http://schemas.openxmlformats.org/drawingml/2006/main">
              <a:ext uri="{FF2B5EF4-FFF2-40B4-BE49-F238E27FC236}">
                <a16:creationId xmlns:a16="http://schemas.microsoft.com/office/drawing/2014/main" id="{D99FDD39-C9F4-481F-9E17-17DE1507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龍昇飯は、成功のご褒美を重ねる</a:t>
            </a:r>
          </a:p>
        </p:txBody>
      </p:sp>
      <p:sp>
        <p:nvSpPr>
          <p:cNvPr id="3" name="dr">
            <a:extLst xmlns:a="http://schemas.openxmlformats.org/drawingml/2006/main">
              <a:ext uri="{FF2B5EF4-FFF2-40B4-BE49-F238E27FC236}">
                <a16:creationId xmlns:a16="http://schemas.microsoft.com/office/drawing/2014/main" id="{93687C81-5ED3-4F4D-84B1-1443A2FA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c0">
            <a:extLst xmlns:a="http://schemas.openxmlformats.org/drawingml/2006/main">
              <a:ext uri="{FF2B5EF4-FFF2-40B4-BE49-F238E27FC236}">
                <a16:creationId xmlns:a16="http://schemas.microsoft.com/office/drawing/2014/main" id="{2DC2A59A-D250-45EE-AE4F-9110985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571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11E"/>
          </a:solidFill>
          <a:ln xmlns:a="http://schemas.openxmlformats.org/drawingml/2006/main" w="9525">
            <a:solidFill>
              <a:srgbClr val="665A53"/>
            </a:solidFill>
            <a:prstDash val="solid"/>
          </a:ln>
        </p:spPr>
      </p:sp>
      <p:sp>
        <p:nvSpPr>
          <p:cNvPr id="5" name="dn0">
            <a:extLst xmlns:a="http://schemas.openxmlformats.org/drawingml/2006/main">
              <a:ext uri="{FF2B5EF4-FFF2-40B4-BE49-F238E27FC236}">
                <a16:creationId xmlns:a16="http://schemas.microsoft.com/office/drawing/2014/main" id="{B915EEFE-437B-4BCF-BB45-81C5377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dname0">
            <a:extLst xmlns:a="http://schemas.openxmlformats.org/drawingml/2006/main">
              <a:ext uri="{FF2B5EF4-FFF2-40B4-BE49-F238E27FC236}">
                <a16:creationId xmlns:a16="http://schemas.microsoft.com/office/drawing/2014/main" id="{D10BF7BA-B2D6-4157-BEEF-73306E06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上昇</a:t>
            </a:r>
          </a:p>
        </p:txBody>
      </p:sp>
      <p:sp>
        <p:nvSpPr>
          <p:cNvPr id="7" name="dd0">
            <a:extLst xmlns:a="http://schemas.openxmlformats.org/drawingml/2006/main">
              <a:ext uri="{FF2B5EF4-FFF2-40B4-BE49-F238E27FC236}">
                <a16:creationId xmlns:a16="http://schemas.microsoft.com/office/drawing/2014/main" id="{C7D0BAC6-D03D-4DB2-A3C1-5AE0D26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米が螺旋状に舞う</a:t>
            </a:r>
          </a:p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龍と炎が立ち上がる</a:t>
            </a:r>
          </a:p>
        </p:txBody>
      </p:sp>
      <p:sp>
        <p:nvSpPr>
          <p:cNvPr id="8" name="dc1">
            <a:extLst xmlns:a="http://schemas.openxmlformats.org/drawingml/2006/main">
              <a:ext uri="{FF2B5EF4-FFF2-40B4-BE49-F238E27FC236}">
                <a16:creationId xmlns:a16="http://schemas.microsoft.com/office/drawing/2014/main" id="{17E35612-3849-421E-9AD3-CE9F47B0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2571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11E"/>
          </a:solidFill>
          <a:ln xmlns:a="http://schemas.openxmlformats.org/drawingml/2006/main" w="9525">
            <a:solidFill>
              <a:srgbClr val="665A53"/>
            </a:solidFill>
            <a:prstDash val="solid"/>
          </a:ln>
        </p:spPr>
      </p:sp>
      <p:sp>
        <p:nvSpPr>
          <p:cNvPr id="9" name="dn1">
            <a:extLst xmlns:a="http://schemas.openxmlformats.org/drawingml/2006/main">
              <a:ext uri="{FF2B5EF4-FFF2-40B4-BE49-F238E27FC236}">
                <a16:creationId xmlns:a16="http://schemas.microsoft.com/office/drawing/2014/main" id="{C86A77AB-6F82-4491-BBBD-13BA45F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dname1">
            <a:extLst xmlns:a="http://schemas.openxmlformats.org/drawingml/2006/main">
              <a:ext uri="{FF2B5EF4-FFF2-40B4-BE49-F238E27FC236}">
                <a16:creationId xmlns:a16="http://schemas.microsoft.com/office/drawing/2014/main" id="{FD01BCFF-8236-4391-9532-0CA2913D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追従</a:t>
            </a:r>
          </a:p>
        </p:txBody>
      </p:sp>
      <p:sp>
        <p:nvSpPr>
          <p:cNvPr id="11" name="dd1">
            <a:extLst xmlns:a="http://schemas.openxmlformats.org/drawingml/2006/main">
              <a:ext uri="{FF2B5EF4-FFF2-40B4-BE49-F238E27FC236}">
                <a16:creationId xmlns:a16="http://schemas.microsoft.com/office/drawing/2014/main" id="{6961942C-5B1C-494C-88BD-A9B8E20A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カメラが見上げる</a:t>
            </a:r>
          </a:p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専用SEを再生</a:t>
            </a:r>
          </a:p>
        </p:txBody>
      </p:sp>
      <p:sp>
        <p:nvSpPr>
          <p:cNvPr id="12" name="dc2">
            <a:extLst xmlns:a="http://schemas.openxmlformats.org/drawingml/2006/main">
              <a:ext uri="{FF2B5EF4-FFF2-40B4-BE49-F238E27FC236}">
                <a16:creationId xmlns:a16="http://schemas.microsoft.com/office/drawing/2014/main" id="{B3AEC79D-B719-44BE-B64D-158B4953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571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11E"/>
          </a:solidFill>
          <a:ln xmlns:a="http://schemas.openxmlformats.org/drawingml/2006/main" w="9525">
            <a:solidFill>
              <a:srgbClr val="665A53"/>
            </a:solidFill>
            <a:prstDash val="solid"/>
          </a:ln>
        </p:spPr>
      </p:sp>
      <p:sp>
        <p:nvSpPr>
          <p:cNvPr id="13" name="dn2">
            <a:extLst xmlns:a="http://schemas.openxmlformats.org/drawingml/2006/main">
              <a:ext uri="{FF2B5EF4-FFF2-40B4-BE49-F238E27FC236}">
                <a16:creationId xmlns:a16="http://schemas.microsoft.com/office/drawing/2014/main" id="{5ECF4281-92FA-4423-B3E9-D5A8BA5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4" name="dname2">
            <a:extLst xmlns:a="http://schemas.openxmlformats.org/drawingml/2006/main">
              <a:ext uri="{FF2B5EF4-FFF2-40B4-BE49-F238E27FC236}">
                <a16:creationId xmlns:a16="http://schemas.microsoft.com/office/drawing/2014/main" id="{D796229A-2078-4C44-906F-D0DC7B1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急降下</a:t>
            </a:r>
          </a:p>
        </p:txBody>
      </p:sp>
      <p:sp>
        <p:nvSpPr>
          <p:cNvPr id="15" name="dd2">
            <a:extLst xmlns:a="http://schemas.openxmlformats.org/drawingml/2006/main">
              <a:ext uri="{FF2B5EF4-FFF2-40B4-BE49-F238E27FC236}">
                <a16:creationId xmlns:a16="http://schemas.microsoft.com/office/drawing/2014/main" id="{260F5CDC-6944-44C4-838C-F609A4FB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龍と米が鍋へ落下</a:t>
            </a:r>
          </a:p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カメラが迫る</a:t>
            </a:r>
          </a:p>
        </p:txBody>
      </p:sp>
      <p:sp>
        <p:nvSpPr>
          <p:cNvPr id="16" name="dc3">
            <a:extLst xmlns:a="http://schemas.openxmlformats.org/drawingml/2006/main">
              <a:ext uri="{FF2B5EF4-FFF2-40B4-BE49-F238E27FC236}">
                <a16:creationId xmlns:a16="http://schemas.microsoft.com/office/drawing/2014/main" id="{8199EB43-EF9E-4370-B435-F30DC55B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571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9525">
            <a:solidFill>
              <a:srgbClr val="665A53"/>
            </a:solidFill>
            <a:prstDash val="solid"/>
          </a:ln>
        </p:spPr>
      </p:sp>
      <p:sp>
        <p:nvSpPr>
          <p:cNvPr id="17" name="dn3">
            <a:extLst xmlns:a="http://schemas.openxmlformats.org/drawingml/2006/main">
              <a:ext uri="{FF2B5EF4-FFF2-40B4-BE49-F238E27FC236}">
                <a16:creationId xmlns:a16="http://schemas.microsoft.com/office/drawing/2014/main" id="{62C52DD6-1092-424B-8ABF-11559056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8" name="dname3">
            <a:extLst xmlns:a="http://schemas.openxmlformats.org/drawingml/2006/main">
              <a:ext uri="{FF2B5EF4-FFF2-40B4-BE49-F238E27FC236}">
                <a16:creationId xmlns:a16="http://schemas.microsoft.com/office/drawing/2014/main" id="{3D261A05-D562-427D-BD56-AAFEC2B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炸裂</a:t>
            </a:r>
          </a:p>
        </p:txBody>
      </p:sp>
      <p:sp>
        <p:nvSpPr>
          <p:cNvPr id="19" name="dd3">
            <a:extLst xmlns:a="http://schemas.openxmlformats.org/drawingml/2006/main">
              <a:ext uri="{FF2B5EF4-FFF2-40B4-BE49-F238E27FC236}">
                <a16:creationId xmlns:a16="http://schemas.microsoft.com/office/drawing/2014/main" id="{4CCEED7B-E529-4C7F-856B-F98E3A0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14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着地・画面揺れ</a:t>
            </a:r>
          </a:p>
          <a:p xmlns:a="http://schemas.openxmlformats.org/drawingml/2006/main">
            <a:pPr algn="l">
              <a:def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E9DED5"/>
                </a:solidFill>
                <a:latin typeface="Yu Gothic"/>
                <a:ea typeface="Yu Gothic"/>
                <a:cs typeface="Yu Gothic"/>
              </a:rPr>
              <a:t>米を物理で爆発</a:t>
            </a:r>
          </a:p>
        </p:txBody>
      </p:sp>
      <p:sp>
        <p:nvSpPr>
          <p:cNvPr id="20" name="pay">
            <a:extLst xmlns:a="http://schemas.openxmlformats.org/drawingml/2006/main">
              <a:ext uri="{FF2B5EF4-FFF2-40B4-BE49-F238E27FC236}">
                <a16:creationId xmlns:a16="http://schemas.microsoft.com/office/drawing/2014/main" id="{E6C698F8-0BEA-49A2-A569-6D2E7D2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A6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5A623"/>
                </a:solidFill>
                <a:latin typeface="Yu Gothic"/>
                <a:ea typeface="Yu Gothic"/>
                <a:cs typeface="Yu Gothic"/>
              </a:rPr>
              <a:t>演出中は鍋操作をロックし、成功演出に集中させる。</a:t>
            </a:r>
          </a:p>
        </p:txBody>
      </p:sp>
      <p:sp>
        <p:nvSpPr>
          <p:cNvPr id="21" name="dsrc">
            <a:extLst xmlns:a="http://schemas.openxmlformats.org/drawingml/2006/main">
              <a:ext uri="{FF2B5EF4-FFF2-40B4-BE49-F238E27FC236}">
                <a16:creationId xmlns:a16="http://schemas.microsoft.com/office/drawing/2014/main" id="{5B196A85-8611-44CD-9727-C6C7618D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A49C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AFA49C"/>
                </a:solidFill>
                <a:latin typeface="Yu Gothic"/>
                <a:ea typeface="Yu Gothic"/>
                <a:cs typeface="Yu Gothic"/>
              </a:rPr>
              <a:t>出典：DragonRiseTechnique.cs</a:t>
            </a:r>
          </a:p>
        </p:txBody>
      </p:sp>
      <p:sp>
        <p:nvSpPr>
          <p:cNvPr id="22" name="dp">
            <a:extLst xmlns:a="http://schemas.openxmlformats.org/drawingml/2006/main">
              <a:ext uri="{FF2B5EF4-FFF2-40B4-BE49-F238E27FC236}">
                <a16:creationId xmlns:a16="http://schemas.microsoft.com/office/drawing/2014/main" id="{C247E67E-FADA-4AE8-B3ED-33F2C5A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8944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-8">
            <a:extLst xmlns:a="http://schemas.openxmlformats.org/drawingml/2006/main">
              <a:ext uri="{FF2B5EF4-FFF2-40B4-BE49-F238E27FC236}">
                <a16:creationId xmlns:a16="http://schemas.microsoft.com/office/drawing/2014/main" id="{91E9A3A2-F4AA-459D-807B-C793A2A5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7C62FFE-D16F-48EB-B30D-DAFB327C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一目で状況がわかり、すぐ再挑戦できる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599C075E-0F64-4508-BF1B-A67BB030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00A7B2E-5D7A-4560-8A33-B1F0B0B2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hc0">
            <a:extLst xmlns:a="http://schemas.openxmlformats.org/drawingml/2006/main">
              <a:ext uri="{FF2B5EF4-FFF2-40B4-BE49-F238E27FC236}">
                <a16:creationId xmlns:a16="http://schemas.microsoft.com/office/drawing/2014/main" id="{02CA3C36-A5A8-4B1B-A7A3-227B9283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71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p0">
            <a:extLst xmlns:a="http://schemas.openxmlformats.org/drawingml/2006/main">
              <a:ext uri="{FF2B5EF4-FFF2-40B4-BE49-F238E27FC236}">
                <a16:creationId xmlns:a16="http://schemas.microsoft.com/office/drawing/2014/main" id="{2BC1E684-B68A-4360-BFCB-39EBF16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左上</a:t>
            </a:r>
          </a:p>
        </p:txBody>
      </p:sp>
      <p:sp>
        <p:nvSpPr>
          <p:cNvPr id="7" name="ht0">
            <a:extLst xmlns:a="http://schemas.openxmlformats.org/drawingml/2006/main">
              <a:ext uri="{FF2B5EF4-FFF2-40B4-BE49-F238E27FC236}">
                <a16:creationId xmlns:a16="http://schemas.microsoft.com/office/drawing/2014/main" id="{F18F09FC-3798-49C8-BB48-F96A3A32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SCORE</a:t>
            </a:r>
          </a:p>
        </p:txBody>
      </p:sp>
      <p:sp>
        <p:nvSpPr>
          <p:cNvPr id="8" name="hd0">
            <a:extLst xmlns:a="http://schemas.openxmlformats.org/drawingml/2006/main">
              <a:ext uri="{FF2B5EF4-FFF2-40B4-BE49-F238E27FC236}">
                <a16:creationId xmlns:a16="http://schemas.microsoft.com/office/drawing/2014/main" id="{66D61CE5-E5D6-482C-A64A-43414D3C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鍋振りと必殺技の成果を即時表示</a:t>
            </a:r>
          </a:p>
        </p:txBody>
      </p:sp>
      <p:sp>
        <p:nvSpPr>
          <p:cNvPr id="9" name="hc1">
            <a:extLst xmlns:a="http://schemas.openxmlformats.org/drawingml/2006/main">
              <a:ext uri="{FF2B5EF4-FFF2-40B4-BE49-F238E27FC236}">
                <a16:creationId xmlns:a16="http://schemas.microsoft.com/office/drawing/2014/main" id="{C2921CF4-0E9A-4CD8-A9D3-44E8B499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71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p1">
            <a:extLst xmlns:a="http://schemas.openxmlformats.org/drawingml/2006/main">
              <a:ext uri="{FF2B5EF4-FFF2-40B4-BE49-F238E27FC236}">
                <a16:creationId xmlns:a16="http://schemas.microsoft.com/office/drawing/2014/main" id="{E573AEBC-3FB3-4AF5-AF38-DF527D6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中央下</a:t>
            </a:r>
          </a:p>
        </p:txBody>
      </p:sp>
      <p:sp>
        <p:nvSpPr>
          <p:cNvPr id="11" name="ht1">
            <a:extLst xmlns:a="http://schemas.openxmlformats.org/drawingml/2006/main">
              <a:ext uri="{FF2B5EF4-FFF2-40B4-BE49-F238E27FC236}">
                <a16:creationId xmlns:a16="http://schemas.microsoft.com/office/drawing/2014/main" id="{A4C1333B-1FD5-4468-AA5F-B125052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TECHNIQUE</a:t>
            </a:r>
          </a:p>
        </p:txBody>
      </p:sp>
      <p:sp>
        <p:nvSpPr>
          <p:cNvPr id="12" name="hd1">
            <a:extLst xmlns:a="http://schemas.openxmlformats.org/drawingml/2006/main">
              <a:ext uri="{FF2B5EF4-FFF2-40B4-BE49-F238E27FC236}">
                <a16:creationId xmlns:a16="http://schemas.microsoft.com/office/drawing/2014/main" id="{CE69EA11-0103-43F4-8BB6-BFAE1283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76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白地に赤いゲージを％で表示</a:t>
            </a:r>
          </a:p>
        </p:txBody>
      </p:sp>
      <p:sp>
        <p:nvSpPr>
          <p:cNvPr id="13" name="hc2">
            <a:extLst xmlns:a="http://schemas.openxmlformats.org/drawingml/2006/main">
              <a:ext uri="{FF2B5EF4-FFF2-40B4-BE49-F238E27FC236}">
                <a16:creationId xmlns:a16="http://schemas.microsoft.com/office/drawing/2014/main" id="{F1A6C443-62F0-4898-A160-599F7CE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71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p2">
            <a:extLst xmlns:a="http://schemas.openxmlformats.org/drawingml/2006/main">
              <a:ext uri="{FF2B5EF4-FFF2-40B4-BE49-F238E27FC236}">
                <a16:creationId xmlns:a16="http://schemas.microsoft.com/office/drawing/2014/main" id="{EDDA7F6B-6B14-41AC-966D-B28D61E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右上</a:t>
            </a:r>
          </a:p>
        </p:txBody>
      </p:sp>
      <p:sp>
        <p:nvSpPr>
          <p:cNvPr id="15" name="ht2">
            <a:extLst xmlns:a="http://schemas.openxmlformats.org/drawingml/2006/main">
              <a:ext uri="{FF2B5EF4-FFF2-40B4-BE49-F238E27FC236}">
                <a16:creationId xmlns:a16="http://schemas.microsoft.com/office/drawing/2014/main" id="{92BE8EFC-AEB5-4996-B143-33A8495B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COOLDOWN</a:t>
            </a:r>
          </a:p>
        </p:txBody>
      </p:sp>
      <p:sp>
        <p:nvSpPr>
          <p:cNvPr id="16" name="hd2">
            <a:extLst xmlns:a="http://schemas.openxmlformats.org/drawingml/2006/main">
              <a:ext uri="{FF2B5EF4-FFF2-40B4-BE49-F238E27FC236}">
                <a16:creationId xmlns:a16="http://schemas.microsoft.com/office/drawing/2014/main" id="{FC4F15C2-467E-4E71-9694-5DDE9BC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時計回りに充填しREADYを通知</a:t>
            </a:r>
          </a:p>
        </p:txBody>
      </p:sp>
      <p:sp>
        <p:nvSpPr>
          <p:cNvPr id="17" name="rank">
            <a:extLst xmlns:a="http://schemas.openxmlformats.org/drawingml/2006/main">
              <a:ext uri="{FF2B5EF4-FFF2-40B4-BE49-F238E27FC236}">
                <a16:creationId xmlns:a16="http://schemas.microsoft.com/office/drawing/2014/main" id="{A9CDA63D-149F-48EA-8A20-2D25B64F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">
            <a:extLst xmlns:a="http://schemas.openxmlformats.org/drawingml/2006/main">
              <a:ext uri="{FF2B5EF4-FFF2-40B4-BE49-F238E27FC236}">
                <a16:creationId xmlns:a16="http://schemas.microsoft.com/office/drawing/2014/main" id="{3DA94C86-06F0-4552-A6DA-6E80DB9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A  5,000点〜</a:t>
            </a:r>
          </a:p>
        </p:txBody>
      </p:sp>
      <p:sp>
        <p:nvSpPr>
          <p:cNvPr id="19" name="rb">
            <a:extLst xmlns:a="http://schemas.openxmlformats.org/drawingml/2006/main">
              <a:ext uri="{FF2B5EF4-FFF2-40B4-BE49-F238E27FC236}">
                <a16:creationId xmlns:a16="http://schemas.microsoft.com/office/drawing/2014/main" id="{72F2D0B7-6CC1-49C0-B2A4-65E0B5E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577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B  2,500点〜</a:t>
            </a:r>
          </a:p>
        </p:txBody>
      </p:sp>
      <p:sp>
        <p:nvSpPr>
          <p:cNvPr id="20" name="rc">
            <a:extLst xmlns:a="http://schemas.openxmlformats.org/drawingml/2006/main">
              <a:ext uri="{FF2B5EF4-FFF2-40B4-BE49-F238E27FC236}">
                <a16:creationId xmlns:a16="http://schemas.microsoft.com/office/drawing/2014/main" id="{A9AE9D53-2837-4A46-B208-2A2662E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577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C  〜2,499点</a:t>
            </a:r>
          </a:p>
        </p:txBody>
      </p:sp>
      <p:sp>
        <p:nvSpPr>
          <p:cNvPr id="21" name="src-20">
            <a:extLst xmlns:a="http://schemas.openxmlformats.org/drawingml/2006/main">
              <a:ext uri="{FF2B5EF4-FFF2-40B4-BE49-F238E27FC236}">
                <a16:creationId xmlns:a16="http://schemas.microsoft.com/office/drawing/2014/main" id="{B075FB3C-235B-4627-8892-DDBB588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出典：SlowMotionCommandSystem.cs / GameSessionController.cs</a:t>
            </a:r>
          </a:p>
        </p:txBody>
      </p:sp>
    </p:spTree>
    <p:extLst>
      <p:ext uri="{BB962C8B-B14F-4D97-AF65-F5344CB8AC3E}">
        <p14:creationId xmlns:p14="http://schemas.microsoft.com/office/powerpoint/2010/main" val="2084598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-9">
            <a:extLst xmlns:a="http://schemas.openxmlformats.org/drawingml/2006/main">
              <a:ext uri="{FF2B5EF4-FFF2-40B4-BE49-F238E27FC236}">
                <a16:creationId xmlns:a16="http://schemas.microsoft.com/office/drawing/2014/main" id="{5A203BEA-7671-4EF1-A762-B9CC9E8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3B05E3D-A700-443E-A32D-29C4445E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プロトタイプで“遊びの核”まで実装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0CE6FAEB-3A96-41FF-B29B-220D3F2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FEA5AA86-5E8F-4C5C-A554-6C4F0C84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ih0">
            <a:extLst xmlns:a="http://schemas.openxmlformats.org/drawingml/2006/main">
              <a:ext uri="{FF2B5EF4-FFF2-40B4-BE49-F238E27FC236}">
                <a16:creationId xmlns:a16="http://schemas.microsoft.com/office/drawing/2014/main" id="{0C94DAB2-0CC5-46B3-8AA1-F8F576E7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ACTION</a:t>
            </a:r>
          </a:p>
        </p:txBody>
      </p:sp>
      <p:sp>
        <p:nvSpPr>
          <p:cNvPr id="6" name="ir0">
            <a:extLst xmlns:a="http://schemas.openxmlformats.org/drawingml/2006/main">
              <a:ext uri="{FF2B5EF4-FFF2-40B4-BE49-F238E27FC236}">
                <a16:creationId xmlns:a16="http://schemas.microsoft.com/office/drawing/2014/main" id="{A661F869-1180-4555-8DA7-ADBCE89E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b0">
            <a:extLst xmlns:a="http://schemas.openxmlformats.org/drawingml/2006/main">
              <a:ext uri="{FF2B5EF4-FFF2-40B4-BE49-F238E27FC236}">
                <a16:creationId xmlns:a16="http://schemas.microsoft.com/office/drawing/2014/main" id="{710057CD-630C-4375-A444-5498981B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381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鍋の弧運動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米・卵・ネギの物理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透明ガイドコライダー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曲面の鍋メッシュ</a:t>
            </a:r>
          </a:p>
        </p:txBody>
      </p:sp>
      <p:sp>
        <p:nvSpPr>
          <p:cNvPr id="8" name="ih1">
            <a:extLst xmlns:a="http://schemas.openxmlformats.org/drawingml/2006/main">
              <a:ext uri="{FF2B5EF4-FFF2-40B4-BE49-F238E27FC236}">
                <a16:creationId xmlns:a16="http://schemas.microsoft.com/office/drawing/2014/main" id="{5A1E8A9B-7A23-45E4-8D70-42A814B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SYSTEM</a:t>
            </a:r>
          </a:p>
        </p:txBody>
      </p:sp>
      <p:sp>
        <p:nvSpPr>
          <p:cNvPr id="9" name="ir1">
            <a:extLst xmlns:a="http://schemas.openxmlformats.org/drawingml/2006/main">
              <a:ext uri="{FF2B5EF4-FFF2-40B4-BE49-F238E27FC236}">
                <a16:creationId xmlns:a16="http://schemas.microsoft.com/office/drawing/2014/main" id="{5D60FB55-5D83-4D58-918A-673D3C60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574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b1">
            <a:extLst xmlns:a="http://schemas.openxmlformats.org/drawingml/2006/main">
              <a:ext uri="{FF2B5EF4-FFF2-40B4-BE49-F238E27FC236}">
                <a16:creationId xmlns:a16="http://schemas.microsoft.com/office/drawing/2014/main" id="{7810B1A2-294F-4E40-B8A4-C863544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81300"/>
            <a:ext cx="3381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60秒ゲーム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スコア・ゲージ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クールタイム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コマンド判定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A/B/Cリザルト</a:t>
            </a:r>
          </a:p>
        </p:txBody>
      </p:sp>
      <p:sp>
        <p:nvSpPr>
          <p:cNvPr id="11" name="ih2">
            <a:extLst xmlns:a="http://schemas.openxmlformats.org/drawingml/2006/main">
              <a:ext uri="{FF2B5EF4-FFF2-40B4-BE49-F238E27FC236}">
                <a16:creationId xmlns:a16="http://schemas.microsoft.com/office/drawing/2014/main" id="{1CD74C90-E397-4F83-A4F8-3D13C6F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PRESENTATION</a:t>
            </a:r>
          </a:p>
        </p:txBody>
      </p:sp>
      <p:sp>
        <p:nvSpPr>
          <p:cNvPr id="12" name="ir2">
            <a:extLst xmlns:a="http://schemas.openxmlformats.org/drawingml/2006/main">
              <a:ext uri="{FF2B5EF4-FFF2-40B4-BE49-F238E27FC236}">
                <a16:creationId xmlns:a16="http://schemas.microsoft.com/office/drawing/2014/main" id="{A1D59447-2B2F-43FB-B25F-83782AF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b2">
            <a:extLst xmlns:a="http://schemas.openxmlformats.org/drawingml/2006/main">
              <a:ext uri="{FF2B5EF4-FFF2-40B4-BE49-F238E27FC236}">
                <a16:creationId xmlns:a16="http://schemas.microsoft.com/office/drawing/2014/main" id="{8479B732-10A8-42A2-A8E4-3DEB2F1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381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龍・炎・爆発VFX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追従カメラ・画面揺れ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調理音・鍋振り音</a:t>
            </a:r>
          </a:p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必殺技専用SE</a:t>
            </a:r>
          </a:p>
        </p:txBody>
      </p:sp>
      <p:sp>
        <p:nvSpPr>
          <p:cNvPr id="14" name="inote">
            <a:extLst xmlns:a="http://schemas.openxmlformats.org/drawingml/2006/main">
              <a:ext uri="{FF2B5EF4-FFF2-40B4-BE49-F238E27FC236}">
                <a16:creationId xmlns:a16="http://schemas.microsoft.com/office/drawing/2014/main" id="{02F69892-D3F1-4639-AB22-6F35ED6A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otet">
            <a:extLst xmlns:a="http://schemas.openxmlformats.org/drawingml/2006/main">
              <a:ext uri="{FF2B5EF4-FFF2-40B4-BE49-F238E27FC236}">
                <a16:creationId xmlns:a16="http://schemas.microsoft.com/office/drawing/2014/main" id="{E7ACD02D-2CAC-4AD3-A597-4007DF4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企画 → 実装 → 手触り調整を反復し、入力から結果までのゲームサイクルを成立させた。</a:t>
            </a:r>
          </a:p>
        </p:txBody>
      </p:sp>
      <p:sp>
        <p:nvSpPr>
          <p:cNvPr id="16" name="src-15">
            <a:extLst xmlns:a="http://schemas.openxmlformats.org/drawingml/2006/main">
              <a:ext uri="{FF2B5EF4-FFF2-40B4-BE49-F238E27FC236}">
                <a16:creationId xmlns:a16="http://schemas.microsoft.com/office/drawing/2014/main" id="{62ADCF82-5F94-477A-9E42-E5A55957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出典：Assets/scripts内の各実装スクリプト</a:t>
            </a:r>
          </a:p>
        </p:txBody>
      </p:sp>
    </p:spTree>
    <p:extLst>
      <p:ext uri="{BB962C8B-B14F-4D97-AF65-F5344CB8AC3E}">
        <p14:creationId xmlns:p14="http://schemas.microsoft.com/office/powerpoint/2010/main" val="1287295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-10">
            <a:extLst xmlns:a="http://schemas.openxmlformats.org/drawingml/2006/main">
              <a:ext uri="{FF2B5EF4-FFF2-40B4-BE49-F238E27FC236}">
                <a16:creationId xmlns:a16="http://schemas.microsoft.com/office/drawing/2014/main" id="{74692C40-6FA7-4414-8CE8-283C50C0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GAME DESIGN DOCUMENT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026A21B-58C1-4830-8B6C-0BD6F3C3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次は“遊び方の幅”を増やす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9FEAB7EB-CC61-4404-A2F7-959418E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DA48E7A7-B242-4060-81BA-11596295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fl">
            <a:extLst xmlns:a="http://schemas.openxmlformats.org/drawingml/2006/main">
              <a:ext uri="{FF2B5EF4-FFF2-40B4-BE49-F238E27FC236}">
                <a16:creationId xmlns:a16="http://schemas.microsoft.com/office/drawing/2014/main" id="{900CE30C-8B62-4390-9FBB-E53459D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実装候補（仕様は要確認）</a:t>
            </a:r>
          </a:p>
        </p:txBody>
      </p:sp>
      <p:sp>
        <p:nvSpPr>
          <p:cNvPr id="6" name="dot-10-242">
            <a:extLst xmlns:a="http://schemas.openxmlformats.org/drawingml/2006/main">
              <a:ext uri="{FF2B5EF4-FFF2-40B4-BE49-F238E27FC236}">
                <a16:creationId xmlns:a16="http://schemas.microsoft.com/office/drawing/2014/main" id="{872175E2-E178-4607-BA4D-0FA9D917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0-242">
            <a:extLst xmlns:a="http://schemas.openxmlformats.org/drawingml/2006/main">
              <a:ext uri="{FF2B5EF4-FFF2-40B4-BE49-F238E27FC236}">
                <a16:creationId xmlns:a16="http://schemas.microsoft.com/office/drawing/2014/main" id="{89400BB4-AD43-4D8E-97FC-95AB680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2種類目の必殺技</a:t>
            </a:r>
          </a:p>
        </p:txBody>
      </p:sp>
      <p:sp>
        <p:nvSpPr>
          <p:cNvPr id="8" name="dot-10-303">
            <a:extLst xmlns:a="http://schemas.openxmlformats.org/drawingml/2006/main">
              <a:ext uri="{FF2B5EF4-FFF2-40B4-BE49-F238E27FC236}">
                <a16:creationId xmlns:a16="http://schemas.microsoft.com/office/drawing/2014/main" id="{9BBA21A6-7F46-4D22-85BD-8FA9933A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10-303">
            <a:extLst xmlns:a="http://schemas.openxmlformats.org/drawingml/2006/main">
              <a:ext uri="{FF2B5EF4-FFF2-40B4-BE49-F238E27FC236}">
                <a16:creationId xmlns:a16="http://schemas.microsoft.com/office/drawing/2014/main" id="{C81E4209-492C-4841-80D8-AE9DDBB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炒め方・コンボ・こぼれ量の評価</a:t>
            </a:r>
          </a:p>
        </p:txBody>
      </p:sp>
      <p:sp>
        <p:nvSpPr>
          <p:cNvPr id="10" name="dot-10-364">
            <a:extLst xmlns:a="http://schemas.openxmlformats.org/drawingml/2006/main">
              <a:ext uri="{FF2B5EF4-FFF2-40B4-BE49-F238E27FC236}">
                <a16:creationId xmlns:a16="http://schemas.microsoft.com/office/drawing/2014/main" id="{B84ACFE8-CD37-4D90-8568-B491F2F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0-364">
            <a:extLst xmlns:a="http://schemas.openxmlformats.org/drawingml/2006/main">
              <a:ext uri="{FF2B5EF4-FFF2-40B4-BE49-F238E27FC236}">
                <a16:creationId xmlns:a16="http://schemas.microsoft.com/office/drawing/2014/main" id="{ACA1C92D-01F0-4303-ADDA-68239FC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タイトル／チュートリアル／設定画面</a:t>
            </a:r>
          </a:p>
        </p:txBody>
      </p:sp>
      <p:sp>
        <p:nvSpPr>
          <p:cNvPr id="12" name="dot-10-425">
            <a:extLst xmlns:a="http://schemas.openxmlformats.org/drawingml/2006/main">
              <a:ext uri="{FF2B5EF4-FFF2-40B4-BE49-F238E27FC236}">
                <a16:creationId xmlns:a16="http://schemas.microsoft.com/office/drawing/2014/main" id="{E7154209-B5BD-4B74-8CF9-3C898BCD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10-425">
            <a:extLst xmlns:a="http://schemas.openxmlformats.org/drawingml/2006/main">
              <a:ext uri="{FF2B5EF4-FFF2-40B4-BE49-F238E27FC236}">
                <a16:creationId xmlns:a16="http://schemas.microsoft.com/office/drawing/2014/main" id="{3B82C138-91A3-4462-B74E-53B8C9B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モデル・背景・UI・VFXの製品版調整</a:t>
            </a:r>
          </a:p>
        </p:txBody>
      </p:sp>
      <p:sp>
        <p:nvSpPr>
          <p:cNvPr id="14" name="dot-10-486">
            <a:extLst xmlns:a="http://schemas.openxmlformats.org/drawingml/2006/main">
              <a:ext uri="{FF2B5EF4-FFF2-40B4-BE49-F238E27FC236}">
                <a16:creationId xmlns:a16="http://schemas.microsoft.com/office/drawing/2014/main" id="{3CA9C273-A124-400D-A43B-B5F1D869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0-486">
            <a:extLst xmlns:a="http://schemas.openxmlformats.org/drawingml/2006/main">
              <a:ext uri="{FF2B5EF4-FFF2-40B4-BE49-F238E27FC236}">
                <a16:creationId xmlns:a16="http://schemas.microsoft.com/office/drawing/2014/main" id="{AB114AEC-D4D7-47AB-8696-16A8A9FD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ランキング・記録保存・入力デバイス拡張</a:t>
            </a:r>
          </a:p>
        </p:txBody>
      </p:sp>
      <p:sp>
        <p:nvSpPr>
          <p:cNvPr id="16" name="final">
            <a:extLst xmlns:a="http://schemas.openxmlformats.org/drawingml/2006/main">
              <a:ext uri="{FF2B5EF4-FFF2-40B4-BE49-F238E27FC236}">
                <a16:creationId xmlns:a16="http://schemas.microsoft.com/office/drawing/2014/main" id="{E5F11192-378B-4200-A792-725DB42C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5410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a">
            <a:extLst xmlns:a="http://schemas.openxmlformats.org/drawingml/2006/main">
              <a:ext uri="{FF2B5EF4-FFF2-40B4-BE49-F238E27FC236}">
                <a16:creationId xmlns:a16="http://schemas.microsoft.com/office/drawing/2014/main" id="{2C390A3C-CDCD-4024-A013-1B4469A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B1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92B18"/>
                </a:solidFill>
                <a:latin typeface="Yu Gothic"/>
                <a:ea typeface="Yu Gothic"/>
                <a:cs typeface="Yu Gothic"/>
              </a:rPr>
              <a:t>作品のアピールポイント</a:t>
            </a:r>
          </a:p>
        </p:txBody>
      </p:sp>
      <p:sp>
        <p:nvSpPr>
          <p:cNvPr id="18" name="fq">
            <a:extLst xmlns:a="http://schemas.openxmlformats.org/drawingml/2006/main">
              <a:ext uri="{FF2B5EF4-FFF2-40B4-BE49-F238E27FC236}">
                <a16:creationId xmlns:a16="http://schemas.microsoft.com/office/drawing/2014/main" id="{BA69A2DA-C00A-4CD4-AAE7-E7BA2038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身近な料理動作を、</a:t>
            </a:r>
          </a:p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自分で発動タイミングを選び、</a:t>
            </a:r>
          </a:p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必殺技で決めるゲームへ。</a:t>
            </a:r>
          </a:p>
        </p:txBody>
      </p:sp>
      <p:sp>
        <p:nvSpPr>
          <p:cNvPr id="19" name="fc">
            <a:extLst xmlns:a="http://schemas.openxmlformats.org/drawingml/2006/main">
              <a:ext uri="{FF2B5EF4-FFF2-40B4-BE49-F238E27FC236}">
                <a16:creationId xmlns:a16="http://schemas.microsoft.com/office/drawing/2014/main" id="{2CB1C0A5-5DE7-407E-9E07-214AC2D3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333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1010"/>
                </a:solidFill>
                <a:latin typeface="Yu Gothic"/>
                <a:ea typeface="Yu Gothic"/>
                <a:cs typeface="Yu Gothic"/>
              </a:rPr>
              <a:t>短いプレイの中に、操作・判断・成功演出・再挑戦を凝縮した3D料理アクション。</a:t>
            </a:r>
          </a:p>
        </p:txBody>
      </p:sp>
      <p:sp>
        <p:nvSpPr>
          <p:cNvPr id="20" name="confirm">
            <a:extLst xmlns:a="http://schemas.openxmlformats.org/drawingml/2006/main">
              <a:ext uri="{FF2B5EF4-FFF2-40B4-BE49-F238E27FC236}">
                <a16:creationId xmlns:a16="http://schemas.microsoft.com/office/drawing/2014/main" id="{48FD95DF-E6D7-41F6-8B56-2D1F9CC3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正式タイトル／ターゲット／2つ目の必殺技：要確認</a:t>
            </a:r>
          </a:p>
        </p:txBody>
      </p:sp>
      <p:sp>
        <p:nvSpPr>
          <p:cNvPr id="21" name="src-20">
            <a:extLst xmlns:a="http://schemas.openxmlformats.org/drawingml/2006/main">
              <a:ext uri="{FF2B5EF4-FFF2-40B4-BE49-F238E27FC236}">
                <a16:creationId xmlns:a16="http://schemas.microsoft.com/office/drawing/2014/main" id="{B2BD9616-5C24-4818-985E-3B02DC3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出典：GameDesignDocument.md／Assets内の実装スクリプト</a:t>
            </a:r>
          </a:p>
        </p:txBody>
      </p:sp>
    </p:spTree>
    <p:extLst>
      <p:ext uri="{BB962C8B-B14F-4D97-AF65-F5344CB8AC3E}">
        <p14:creationId xmlns:p14="http://schemas.microsoft.com/office/powerpoint/2010/main" val="17392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2026-07-21T15:07:49.7500000Z</dcterms:created>
  <dcterms:modified xsi:type="dcterms:W3CDTF">2026-07-21T15:07:49.7500000Z</dcterms:modified>
</coreProperties>
</file>